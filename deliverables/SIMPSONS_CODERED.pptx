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Play"/>
      <p:regular r:id="rId11"/>
      <p:bold r:id="rId12"/>
    </p:embeddedFont>
    <p:embeddedFont>
      <p:font typeface="Poppi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N7WWwUjN1M6ULVhfqb1f0Xv5V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customschemas.google.com/relationships/presentationmetadata" Target="meta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74606" y="295062"/>
            <a:ext cx="4918200" cy="1195417"/>
          </a:xfrm>
          <a:custGeom>
            <a:rect b="b" l="l" r="r" t="t"/>
            <a:pathLst>
              <a:path extrusionOk="0" h="1195417" w="4918200">
                <a:moveTo>
                  <a:pt x="0" y="0"/>
                </a:moveTo>
                <a:lnTo>
                  <a:pt x="4918200" y="0"/>
                </a:lnTo>
                <a:lnTo>
                  <a:pt x="4918200" y="1195417"/>
                </a:lnTo>
                <a:lnTo>
                  <a:pt x="0" y="1195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38" l="0" r="0" t="-939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6373978" y="9149040"/>
            <a:ext cx="1770644" cy="1026973"/>
          </a:xfrm>
          <a:custGeom>
            <a:rect b="b" l="l" r="r" t="t"/>
            <a:pathLst>
              <a:path extrusionOk="0" h="1026973" w="1770644">
                <a:moveTo>
                  <a:pt x="0" y="0"/>
                </a:moveTo>
                <a:lnTo>
                  <a:pt x="1770644" y="0"/>
                </a:lnTo>
                <a:lnTo>
                  <a:pt x="1770644" y="1026973"/>
                </a:lnTo>
                <a:lnTo>
                  <a:pt x="0" y="10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849397" y="117989"/>
            <a:ext cx="1049162" cy="1133145"/>
          </a:xfrm>
          <a:custGeom>
            <a:rect b="b" l="l" r="r" t="t"/>
            <a:pathLst>
              <a:path extrusionOk="0" h="1133145" w="1049162">
                <a:moveTo>
                  <a:pt x="0" y="0"/>
                </a:moveTo>
                <a:lnTo>
                  <a:pt x="1049162" y="0"/>
                </a:lnTo>
                <a:lnTo>
                  <a:pt x="1049162" y="1133145"/>
                </a:lnTo>
                <a:lnTo>
                  <a:pt x="0" y="113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4713" l="-57439" r="-44059" t="-69215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17057062" y="-90316"/>
            <a:ext cx="1087560" cy="1303080"/>
            <a:chOff x="0" y="-328900"/>
            <a:chExt cx="1450081" cy="1737439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0" y="-328900"/>
              <a:ext cx="1450081" cy="1737439"/>
              <a:chOff x="0" y="-114300"/>
              <a:chExt cx="503934" cy="603798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503934" cy="489498"/>
              </a:xfrm>
              <a:custGeom>
                <a:rect b="b" l="l" r="r" t="t"/>
                <a:pathLst>
                  <a:path extrusionOk="0" h="489498" w="503934">
                    <a:moveTo>
                      <a:pt x="244749" y="0"/>
                    </a:moveTo>
                    <a:lnTo>
                      <a:pt x="259185" y="0"/>
                    </a:lnTo>
                    <a:cubicBezTo>
                      <a:pt x="324097" y="0"/>
                      <a:pt x="386349" y="25786"/>
                      <a:pt x="432249" y="71685"/>
                    </a:cubicBezTo>
                    <a:cubicBezTo>
                      <a:pt x="478148" y="117585"/>
                      <a:pt x="503934" y="179837"/>
                      <a:pt x="503934" y="244749"/>
                    </a:cubicBezTo>
                    <a:lnTo>
                      <a:pt x="503934" y="244749"/>
                    </a:lnTo>
                    <a:cubicBezTo>
                      <a:pt x="503934" y="379920"/>
                      <a:pt x="394356" y="489498"/>
                      <a:pt x="259185" y="489498"/>
                    </a:cubicBezTo>
                    <a:lnTo>
                      <a:pt x="244749" y="489498"/>
                    </a:lnTo>
                    <a:cubicBezTo>
                      <a:pt x="109578" y="489498"/>
                      <a:pt x="0" y="379920"/>
                      <a:pt x="0" y="244749"/>
                    </a:cubicBezTo>
                    <a:lnTo>
                      <a:pt x="0" y="244749"/>
                    </a:lnTo>
                    <a:cubicBezTo>
                      <a:pt x="0" y="109578"/>
                      <a:pt x="109578" y="0"/>
                      <a:pt x="24474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6A6A6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0" y="-114300"/>
                <a:ext cx="503934" cy="603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375" lIns="13375" spcFirstLastPara="1" rIns="13375" wrap="square" tIns="13375">
                <a:noAutofit/>
              </a:bodyPr>
              <a:lstStyle/>
              <a:p>
                <a:pPr indent="0" lvl="0" marL="0" marR="0" rtl="0" algn="ctr">
                  <a:lnSpc>
                    <a:spcPct val="48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1"/>
            <p:cNvSpPr/>
            <p:nvPr/>
          </p:nvSpPr>
          <p:spPr>
            <a:xfrm>
              <a:off x="67934" y="121945"/>
              <a:ext cx="1314213" cy="1164650"/>
            </a:xfrm>
            <a:custGeom>
              <a:rect b="b" l="l" r="r" t="t"/>
              <a:pathLst>
                <a:path extrusionOk="0" h="1164650" w="1314213">
                  <a:moveTo>
                    <a:pt x="0" y="0"/>
                  </a:moveTo>
                  <a:lnTo>
                    <a:pt x="1314213" y="0"/>
                  </a:lnTo>
                  <a:lnTo>
                    <a:pt x="1314213" y="1164650"/>
                  </a:lnTo>
                  <a:lnTo>
                    <a:pt x="0" y="11646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3271" l="0" r="0" t="-3271"/>
              </a:stretch>
            </a:blipFill>
            <a:ln>
              <a:noFill/>
            </a:ln>
          </p:spPr>
        </p:sp>
      </p:grpSp>
      <p:sp>
        <p:nvSpPr>
          <p:cNvPr id="93" name="Google Shape;93;p1"/>
          <p:cNvSpPr txBox="1"/>
          <p:nvPr/>
        </p:nvSpPr>
        <p:spPr>
          <a:xfrm>
            <a:off x="1162800" y="7407627"/>
            <a:ext cx="552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Simpsons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62800" y="8023275"/>
            <a:ext cx="757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</a:t>
            </a:r>
            <a:r>
              <a:rPr b="0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Roahith R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162800" y="8638900"/>
            <a:ext cx="117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</a:t>
            </a:r>
            <a:r>
              <a:rPr b="1"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Shiv Nadar University, Chennai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62800" y="2857250"/>
            <a:ext cx="15590700" cy="26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399">
                <a:solidFill>
                  <a:srgbClr val="FBF9F1"/>
                </a:solidFill>
                <a:latin typeface="Play"/>
                <a:ea typeface="Play"/>
                <a:cs typeface="Play"/>
                <a:sym typeface="Play"/>
              </a:rPr>
              <a:t>Sentinel</a:t>
            </a:r>
            <a:r>
              <a:rPr b="1" lang="en-US" sz="9399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AI</a:t>
            </a:r>
            <a:r>
              <a:rPr b="1" lang="en-US" sz="9399">
                <a:solidFill>
                  <a:srgbClr val="FBF9F1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r>
              <a:rPr b="1" lang="en-US" sz="9999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5699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Real-Time Autonomous Cybersecurity for IoT Networks</a:t>
            </a:r>
            <a:endParaRPr b="1" sz="5699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162800" y="6791975"/>
            <a:ext cx="838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CR06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481777" y="-120125"/>
            <a:ext cx="4632300" cy="1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70"/>
              <a:buFont typeface="Arial"/>
              <a:buNone/>
            </a:pPr>
            <a:r>
              <a:rPr i="0" lang="en-US" sz="11970" u="none" cap="none" strike="noStrike">
                <a:solidFill>
                  <a:srgbClr val="FFFFFC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9339925" y="-144950"/>
            <a:ext cx="4050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i="0" lang="en-US" sz="12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endParaRPr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2339502" y="49450"/>
            <a:ext cx="27372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5"/>
              <a:buFont typeface="Arial"/>
              <a:buNone/>
            </a:pPr>
            <a:r>
              <a:rPr i="0" lang="en-US" sz="94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5275372" y="1612120"/>
            <a:ext cx="42510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6"/>
              <a:buFont typeface="Arial"/>
              <a:buNone/>
            </a:pPr>
            <a:r>
              <a:rPr i="0" lang="en-US" sz="263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CODE TILL YOU DROP...</a:t>
            </a:r>
            <a:endParaRPr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371400" y="365700"/>
            <a:ext cx="17545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SentinelAI Overview:</a:t>
            </a:r>
            <a:r>
              <a:rPr b="1" lang="en-US" sz="6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Revolutionizing IoT Cybersecurity</a:t>
            </a:r>
            <a:endParaRPr b="1" sz="60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6373978" y="9173650"/>
            <a:ext cx="1770644" cy="1026973"/>
          </a:xfrm>
          <a:custGeom>
            <a:rect b="b" l="l" r="r" t="t"/>
            <a:pathLst>
              <a:path extrusionOk="0" h="1026973" w="1770644">
                <a:moveTo>
                  <a:pt x="0" y="0"/>
                </a:moveTo>
                <a:lnTo>
                  <a:pt x="1770644" y="0"/>
                </a:lnTo>
                <a:lnTo>
                  <a:pt x="1770644" y="1026973"/>
                </a:lnTo>
                <a:lnTo>
                  <a:pt x="0" y="10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99025" y="3029500"/>
            <a:ext cx="84063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A next-generation cybersecurity framework for IoT, integrating AI, blockchain, and quantum-resistant cryptography to provide </a:t>
            </a: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proactive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adaptive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scalable protection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for IoT nodes in real-time.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50" y="2580546"/>
            <a:ext cx="891875" cy="8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44213" y="1724525"/>
            <a:ext cx="896111" cy="8961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1099025" y="2504633"/>
            <a:ext cx="72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Overview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890600" y="2209325"/>
            <a:ext cx="8253900" cy="7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AI-Powered Threat Intelligence: 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A self-learning system using federated learning to detect zero-day vulnerabilities.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Decentralized and Trustless Communication: 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Blockchain secures communication, preventing data tampering even in edge devices.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Quantum-Resistant Security: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Post-quantum cryptographic protocols to future-proof IoT systems.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Edge-Based Protection: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Autonomous agents at the edge for faster response and reduced latency.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Customizable Defense: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Configurable rules to adapt to various industries like healthcare, smart cities, and manufacturing.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738200" y="1532058"/>
            <a:ext cx="72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Key Features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75050" y="5978850"/>
            <a:ext cx="84063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●"/>
            </a:pP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Preventing ransomware attacks in smart home ecosystems.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●"/>
            </a:pP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Securing Industrial IoT (IIoT) systems in manufacturing plants.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●"/>
            </a:pP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Enabling secure V2V communication in autonomous vehicles.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●"/>
            </a:pP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Safeguarding wearable medical devices from breaches.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75038" y="5453983"/>
            <a:ext cx="72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Use Cases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5038" y="5538563"/>
            <a:ext cx="896100" cy="8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 txBox="1"/>
          <p:nvPr/>
        </p:nvSpPr>
        <p:spPr>
          <a:xfrm>
            <a:off x="278100" y="293800"/>
            <a:ext cx="17731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Technology Stack and Business Potential: </a:t>
            </a:r>
            <a:r>
              <a:rPr b="1" lang="en-US" sz="60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The Backbone of SentinelAI</a:t>
            </a:r>
            <a:endParaRPr b="1" sz="6000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6373978" y="9173650"/>
            <a:ext cx="1770644" cy="1026973"/>
          </a:xfrm>
          <a:custGeom>
            <a:rect b="b" l="l" r="r" t="t"/>
            <a:pathLst>
              <a:path extrusionOk="0" h="1026973" w="1770644">
                <a:moveTo>
                  <a:pt x="0" y="0"/>
                </a:moveTo>
                <a:lnTo>
                  <a:pt x="1770644" y="0"/>
                </a:lnTo>
                <a:lnTo>
                  <a:pt x="1770644" y="1026973"/>
                </a:lnTo>
                <a:lnTo>
                  <a:pt x="0" y="10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 txBox="1"/>
          <p:nvPr/>
        </p:nvSpPr>
        <p:spPr>
          <a:xfrm>
            <a:off x="1251425" y="2800900"/>
            <a:ext cx="10418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AI/ML:</a:t>
            </a:r>
            <a:r>
              <a:rPr b="1"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Self-supervised learning models for anomaly detection.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Blockchain: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Permissioned blockchain for scalable and private data sharing.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Quantum Security: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Lattice-based cryptographic algorithms.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IoT Middleware: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Lightweight protocols like CoAP and MQTT.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Languages &amp; Frameworks: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Python, TensorFlow, Hyperledger Fabric.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099025" y="2276033"/>
            <a:ext cx="72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Tech Stack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038" y="2496100"/>
            <a:ext cx="896111" cy="89611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11906150" y="2969250"/>
            <a:ext cx="63819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Predictive Security: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Detects and neutralizes threats before they occur using advanced AI models.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Real-Time, Edge-Based Defense: 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Localized protection minimizes dependency on cloud resources.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Multi-Layered Security: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Combines AI, blockchain, and cryptography for robust, end-to-end protection.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Scalability: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Adaptable to networks with thousands of devices.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Plug-and-Play: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Easy integration with existing IoT infrastructure.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1753750" y="2444383"/>
            <a:ext cx="72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Why SentinelAI Stands Out?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46738" y="2522813"/>
            <a:ext cx="1026975" cy="10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1324475" y="7110875"/>
            <a:ext cx="10810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Market Demand: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IoT cybersecurity market to reach $40B by 2030.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➔"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Industries: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Healthcare: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Safeguarding patient data.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Smart Cities: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Securing public infrastructure.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2800"/>
              <a:buFont typeface="Trebuchet MS"/>
              <a:buChar char="★"/>
            </a:pPr>
            <a:r>
              <a:rPr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Logistics:</a:t>
            </a:r>
            <a:r>
              <a:rPr lang="en-US" sz="2800">
                <a:solidFill>
                  <a:srgbClr val="FBF9F1"/>
                </a:solidFill>
                <a:latin typeface="Trebuchet MS"/>
                <a:ea typeface="Trebuchet MS"/>
                <a:cs typeface="Trebuchet MS"/>
                <a:sym typeface="Trebuchet MS"/>
              </a:rPr>
              <a:t> Enhancing supply chain security.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172075" y="6586000"/>
            <a:ext cx="11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Market Potential</a:t>
            </a:r>
            <a:endParaRPr b="1" sz="36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100" y="6806075"/>
            <a:ext cx="896111" cy="896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 txBox="1"/>
          <p:nvPr/>
        </p:nvSpPr>
        <p:spPr>
          <a:xfrm>
            <a:off x="164550" y="236050"/>
            <a:ext cx="17958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Process Flow: </a:t>
            </a:r>
            <a:r>
              <a:rPr b="1" lang="en-US" sz="6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How SentinelAI Defends IoT in Real-Time</a:t>
            </a:r>
            <a:endParaRPr b="1" sz="60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6373978" y="9173650"/>
            <a:ext cx="1770644" cy="1026973"/>
          </a:xfrm>
          <a:custGeom>
            <a:rect b="b" l="l" r="r" t="t"/>
            <a:pathLst>
              <a:path extrusionOk="0" h="1026973" w="1770644">
                <a:moveTo>
                  <a:pt x="0" y="0"/>
                </a:moveTo>
                <a:lnTo>
                  <a:pt x="1770644" y="0"/>
                </a:lnTo>
                <a:lnTo>
                  <a:pt x="1770644" y="1026973"/>
                </a:lnTo>
                <a:lnTo>
                  <a:pt x="0" y="10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64550" y="7722875"/>
            <a:ext cx="1795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An innovative, multi-layered cybersecurity solution blending AI, blockchain, and quantum security for real-time IoT protection.</a:t>
            </a:r>
            <a:endParaRPr sz="2800">
              <a:solidFill>
                <a:srgbClr val="FBF9F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443349" y="427745"/>
            <a:ext cx="625159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  <a:r>
              <a:rPr b="1" i="0" lang="en-US" sz="60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443349" y="2513605"/>
            <a:ext cx="552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C"/>
                </a:solidFill>
                <a:latin typeface="Poppins"/>
                <a:ea typeface="Poppins"/>
                <a:cs typeface="Poppins"/>
                <a:sym typeface="Poppins"/>
              </a:rPr>
              <a:t>Student ID:</a:t>
            </a: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22110XXX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443352" y="3129250"/>
            <a:ext cx="1395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Institution Name:</a:t>
            </a: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Shiv Nada</a:t>
            </a: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 University, Chennai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443351" y="3744875"/>
            <a:ext cx="1107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Phone Number: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+91</a:t>
            </a: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XXXXX XXXXX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43352" y="1899550"/>
            <a:ext cx="1538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Team Leader Name:</a:t>
            </a:r>
            <a:r>
              <a:rPr b="1" i="0" lang="en-US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Roahith R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43351" y="6487125"/>
            <a:ext cx="1115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Member 1 Name : 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Nidhi </a:t>
            </a: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Gummaraju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43349" y="4358930"/>
            <a:ext cx="552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Email ID:</a:t>
            </a:r>
            <a:endParaRPr b="1" i="0" sz="1400" u="none" cap="none" strike="noStrike">
              <a:solidFill>
                <a:srgbClr val="FBF9F1"/>
              </a:solidFill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43351" y="7605975"/>
            <a:ext cx="91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Member 2 Name :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Jayashre</a:t>
            </a:r>
            <a:endParaRPr b="1" i="0" sz="1400" u="none" cap="none" strike="noStrike">
              <a:solidFill>
                <a:srgbClr val="FF0000"/>
              </a:solidFill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6373978" y="9173650"/>
            <a:ext cx="1770644" cy="1026973"/>
          </a:xfrm>
          <a:custGeom>
            <a:rect b="b" l="l" r="r" t="t"/>
            <a:pathLst>
              <a:path extrusionOk="0" h="1026973" w="1770644">
                <a:moveTo>
                  <a:pt x="0" y="0"/>
                </a:moveTo>
                <a:lnTo>
                  <a:pt x="1770644" y="0"/>
                </a:lnTo>
                <a:lnTo>
                  <a:pt x="1770644" y="1026973"/>
                </a:lnTo>
                <a:lnTo>
                  <a:pt x="0" y="10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