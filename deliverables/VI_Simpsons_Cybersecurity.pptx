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Medium"/>
      <p:regular r:id="rId33"/>
      <p:bold r:id="rId34"/>
      <p:italic r:id="rId35"/>
      <p:boldItalic r:id="rId36"/>
    </p:embeddedFont>
    <p:embeddedFont>
      <p:font typeface="Onest"/>
      <p:regular r:id="rId37"/>
      <p:bold r:id="rId38"/>
    </p:embeddedFont>
    <p:embeddedFont>
      <p:font typeface="Orbitron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rbitron-bold.fntdata"/><Relationship Id="rId20" Type="http://schemas.openxmlformats.org/officeDocument/2006/relationships/font" Target="fonts/Play-bold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Poppi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PoppinsMedium-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.fntdata"/><Relationship Id="rId15" Type="http://schemas.openxmlformats.org/officeDocument/2006/relationships/slide" Target="slides/slide10.xml"/><Relationship Id="rId37" Type="http://schemas.openxmlformats.org/officeDocument/2006/relationships/font" Target="fonts/Onest-regular.fntdata"/><Relationship Id="rId14" Type="http://schemas.openxmlformats.org/officeDocument/2006/relationships/slide" Target="slides/slide9.xml"/><Relationship Id="rId36" Type="http://schemas.openxmlformats.org/officeDocument/2006/relationships/font" Target="fonts/Poppi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Orbitron-regular.fntdata"/><Relationship Id="rId16" Type="http://schemas.openxmlformats.org/officeDocument/2006/relationships/slide" Target="slides/slide11.xml"/><Relationship Id="rId38" Type="http://schemas.openxmlformats.org/officeDocument/2006/relationships/font" Target="fonts/Onest-bold.fntdata"/><Relationship Id="rId19" Type="http://schemas.openxmlformats.org/officeDocument/2006/relationships/font" Target="fonts/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79df905ed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379df905ed_2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out Image Background">
  <p:cSld name="Agenda Without Image Background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1517"/>
          <a:stretch/>
        </p:blipFill>
        <p:spPr>
          <a:xfrm>
            <a:off x="46870" y="39029"/>
            <a:ext cx="9050260" cy="506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type="title"/>
          </p:nvPr>
        </p:nvSpPr>
        <p:spPr>
          <a:xfrm>
            <a:off x="304800" y="0"/>
            <a:ext cx="8534400" cy="5053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" name="Google Shape;22;p2"/>
          <p:cNvGrpSpPr/>
          <p:nvPr/>
        </p:nvGrpSpPr>
        <p:grpSpPr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23" name="Google Shape;23;p2"/>
            <p:cNvSpPr/>
            <p:nvPr/>
          </p:nvSpPr>
          <p:spPr>
            <a:xfrm>
              <a:off x="249998" y="488320"/>
              <a:ext cx="8585221" cy="108069"/>
            </a:xfrm>
            <a:custGeom>
              <a:rect b="b" l="l" r="r" t="t"/>
              <a:pathLst>
                <a:path extrusionOk="0" h="108069" w="8585221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8781" y="488319"/>
              <a:ext cx="8585221" cy="108069"/>
            </a:xfrm>
            <a:custGeom>
              <a:rect b="b" l="l" r="r" t="t"/>
              <a:pathLst>
                <a:path extrusionOk="0" h="108069" w="8585221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/>
          <p:nvPr>
            <p:ph idx="1" type="body"/>
          </p:nvPr>
        </p:nvSpPr>
        <p:spPr>
          <a:xfrm>
            <a:off x="683568" y="915566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/>
          <p:nvPr>
            <p:ph idx="2" type="body"/>
          </p:nvPr>
        </p:nvSpPr>
        <p:spPr>
          <a:xfrm>
            <a:off x="683568" y="1409335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"/>
          <p:cNvSpPr/>
          <p:nvPr>
            <p:ph idx="3" type="body"/>
          </p:nvPr>
        </p:nvSpPr>
        <p:spPr>
          <a:xfrm>
            <a:off x="683568" y="1903104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"/>
          <p:cNvSpPr/>
          <p:nvPr>
            <p:ph idx="4" type="body"/>
          </p:nvPr>
        </p:nvSpPr>
        <p:spPr>
          <a:xfrm>
            <a:off x="683568" y="2396873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"/>
          <p:cNvSpPr/>
          <p:nvPr>
            <p:ph idx="5" type="body"/>
          </p:nvPr>
        </p:nvSpPr>
        <p:spPr>
          <a:xfrm>
            <a:off x="683568" y="2890642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"/>
          <p:cNvSpPr/>
          <p:nvPr>
            <p:ph idx="6" type="body"/>
          </p:nvPr>
        </p:nvSpPr>
        <p:spPr>
          <a:xfrm>
            <a:off x="683568" y="3384411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"/>
          <p:cNvSpPr/>
          <p:nvPr>
            <p:ph idx="7" type="body"/>
          </p:nvPr>
        </p:nvSpPr>
        <p:spPr>
          <a:xfrm>
            <a:off x="683568" y="3878180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"/>
          <p:cNvSpPr/>
          <p:nvPr>
            <p:ph idx="8" type="body"/>
          </p:nvPr>
        </p:nvSpPr>
        <p:spPr>
          <a:xfrm>
            <a:off x="683568" y="4371950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"/>
          <p:cNvSpPr/>
          <p:nvPr>
            <p:ph idx="9" type="body"/>
          </p:nvPr>
        </p:nvSpPr>
        <p:spPr>
          <a:xfrm>
            <a:off x="279686" y="915566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"/>
          <p:cNvSpPr/>
          <p:nvPr>
            <p:ph idx="13" type="body"/>
          </p:nvPr>
        </p:nvSpPr>
        <p:spPr>
          <a:xfrm>
            <a:off x="279686" y="1409335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"/>
          <p:cNvSpPr/>
          <p:nvPr>
            <p:ph idx="14" type="body"/>
          </p:nvPr>
        </p:nvSpPr>
        <p:spPr>
          <a:xfrm>
            <a:off x="279686" y="1903104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"/>
          <p:cNvSpPr/>
          <p:nvPr>
            <p:ph idx="15" type="body"/>
          </p:nvPr>
        </p:nvSpPr>
        <p:spPr>
          <a:xfrm>
            <a:off x="279686" y="2396873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"/>
          <p:cNvSpPr/>
          <p:nvPr>
            <p:ph idx="16" type="body"/>
          </p:nvPr>
        </p:nvSpPr>
        <p:spPr>
          <a:xfrm>
            <a:off x="279686" y="2890642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"/>
          <p:cNvSpPr/>
          <p:nvPr>
            <p:ph idx="17" type="body"/>
          </p:nvPr>
        </p:nvSpPr>
        <p:spPr>
          <a:xfrm>
            <a:off x="279686" y="3384411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"/>
          <p:cNvSpPr/>
          <p:nvPr>
            <p:ph idx="18" type="body"/>
          </p:nvPr>
        </p:nvSpPr>
        <p:spPr>
          <a:xfrm>
            <a:off x="279686" y="3878180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"/>
          <p:cNvSpPr/>
          <p:nvPr>
            <p:ph idx="19" type="body"/>
          </p:nvPr>
        </p:nvSpPr>
        <p:spPr>
          <a:xfrm>
            <a:off x="279686" y="4371950"/>
            <a:ext cx="403882" cy="288032"/>
          </a:xfrm>
          <a:prstGeom prst="parallelogram">
            <a:avLst>
              <a:gd fmla="val 25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36000" lIns="36000" spcFirstLastPara="1" rIns="3600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"/>
          <p:cNvPicPr preferRelativeResize="0"/>
          <p:nvPr/>
        </p:nvPicPr>
        <p:blipFill rotWithShape="1">
          <a:blip r:embed="rId2">
            <a:alphaModFix/>
          </a:blip>
          <a:srcRect b="0" l="0" r="0" t="1517"/>
          <a:stretch/>
        </p:blipFill>
        <p:spPr>
          <a:xfrm>
            <a:off x="46870" y="39029"/>
            <a:ext cx="9050260" cy="506544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>
            <p:ph type="title"/>
          </p:nvPr>
        </p:nvSpPr>
        <p:spPr>
          <a:xfrm>
            <a:off x="348000" y="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984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"/>
          <p:cNvSpPr/>
          <p:nvPr/>
        </p:nvSpPr>
        <p:spPr>
          <a:xfrm>
            <a:off x="442971" y="858972"/>
            <a:ext cx="1045028" cy="36576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" name="Google Shape;49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4" name="Google Shape;74;p8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6" name="Google Shape;76;p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2" name="Google Shape;92;p1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2968708" y="4936035"/>
            <a:ext cx="3229088" cy="207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Restricted Circulation | L&amp;T Technology Services | www.LTTS.com</a:t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8578121" y="4936034"/>
            <a:ext cx="460947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9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91885" y="0"/>
            <a:ext cx="8802505" cy="632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b="1" i="0" lang="en-IN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to edit Title Text</a:t>
            </a:r>
            <a:endParaRPr b="1" i="0" sz="24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91886" y="637992"/>
            <a:ext cx="1045028" cy="36576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jp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researchgate.net/publication/337569709_Security_Framework_for_IoT_Devices_against_Cyber-attacks" TargetMode="External"/><Relationship Id="rId4" Type="http://schemas.openxmlformats.org/officeDocument/2006/relationships/hyperlink" Target="https://doi.org/10.1016/j.cose.2024.104037" TargetMode="External"/><Relationship Id="rId5" Type="http://schemas.openxmlformats.org/officeDocument/2006/relationships/hyperlink" Target="https://doi.org/10.1016/j.iotcps.2023.12.00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949" y="1050874"/>
            <a:ext cx="2444300" cy="27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-260252" y="0"/>
            <a:ext cx="71182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Vertex Innovate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231300" y="3412804"/>
            <a:ext cx="1008300" cy="87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(Team Member 1 pic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87906" y="4381137"/>
            <a:ext cx="169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IN" sz="1200">
                <a:latin typeface="Calibri"/>
                <a:ea typeface="Calibri"/>
                <a:cs typeface="Calibri"/>
                <a:sym typeface="Calibri"/>
              </a:rPr>
              <a:t>Roahith R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2126239" y="4381137"/>
            <a:ext cx="169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IN" sz="1200">
                <a:latin typeface="Calibri"/>
                <a:ea typeface="Calibri"/>
                <a:cs typeface="Calibri"/>
                <a:sym typeface="Calibri"/>
              </a:rPr>
              <a:t>Jayashre K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618939" y="4381135"/>
            <a:ext cx="169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IN" sz="1200">
                <a:latin typeface="Calibri"/>
                <a:ea typeface="Calibri"/>
                <a:cs typeface="Calibri"/>
                <a:sym typeface="Calibri"/>
              </a:rPr>
              <a:t>Nidhi Gummaraju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749351" y="1258875"/>
            <a:ext cx="4049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IN" sz="6200">
                <a:highlight>
                  <a:schemeClr val="lt1"/>
                </a:highlight>
                <a:latin typeface="Play"/>
                <a:ea typeface="Play"/>
                <a:cs typeface="Play"/>
                <a:sym typeface="Play"/>
              </a:rPr>
              <a:t>Sentinel</a:t>
            </a:r>
            <a:r>
              <a:rPr b="1" lang="en-IN" sz="6200">
                <a:solidFill>
                  <a:srgbClr val="FFC000"/>
                </a:solidFill>
                <a:highlight>
                  <a:schemeClr val="lt1"/>
                </a:highlight>
                <a:latin typeface="Play"/>
                <a:ea typeface="Play"/>
                <a:cs typeface="Play"/>
                <a:sym typeface="Play"/>
              </a:rPr>
              <a:t>AI</a:t>
            </a:r>
            <a:endParaRPr b="1" sz="6200">
              <a:solidFill>
                <a:srgbClr val="FFC000"/>
              </a:solidFill>
              <a:highlight>
                <a:schemeClr val="lt1"/>
              </a:highlight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1275" y="3369525"/>
            <a:ext cx="717475" cy="9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645950" y="3905300"/>
            <a:ext cx="1944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 </a:t>
            </a:r>
            <a:endParaRPr sz="24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Simpsons</a:t>
            </a:r>
            <a:endParaRPr sz="24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765250" y="2110050"/>
            <a:ext cx="479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Smart Security for Smarter Devices</a:t>
            </a:r>
            <a:endParaRPr b="1"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29" name="Google Shape;12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6125" y="3441434"/>
            <a:ext cx="978653" cy="8130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30" name="Google Shape;130;p15"/>
          <p:cNvSpPr/>
          <p:nvPr/>
        </p:nvSpPr>
        <p:spPr>
          <a:xfrm>
            <a:off x="6473475" y="3826850"/>
            <a:ext cx="2001900" cy="10803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0575" y="3392625"/>
            <a:ext cx="917140" cy="9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304800" y="76200"/>
            <a:ext cx="85344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3000">
                <a:latin typeface="Onest"/>
                <a:ea typeface="Onest"/>
                <a:cs typeface="Onest"/>
                <a:sym typeface="Onest"/>
              </a:rPr>
              <a:t>Index</a:t>
            </a:r>
            <a:endParaRPr b="1" sz="30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37" name="Google Shape;137;p16"/>
          <p:cNvSpPr/>
          <p:nvPr>
            <p:ph idx="1" type="body"/>
          </p:nvPr>
        </p:nvSpPr>
        <p:spPr>
          <a:xfrm>
            <a:off x="545023" y="684657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Challenge Statement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38" name="Google Shape;138;p16"/>
          <p:cNvSpPr/>
          <p:nvPr>
            <p:ph idx="2" type="body"/>
          </p:nvPr>
        </p:nvSpPr>
        <p:spPr>
          <a:xfrm>
            <a:off x="545023" y="1104436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Concept of the Solution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39" name="Google Shape;139;p16"/>
          <p:cNvSpPr/>
          <p:nvPr>
            <p:ph idx="3" type="body"/>
          </p:nvPr>
        </p:nvSpPr>
        <p:spPr>
          <a:xfrm>
            <a:off x="545023" y="1524215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Novelty / Scope of Solution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0" name="Google Shape;140;p16"/>
          <p:cNvSpPr/>
          <p:nvPr>
            <p:ph idx="4" type="body"/>
          </p:nvPr>
        </p:nvSpPr>
        <p:spPr>
          <a:xfrm>
            <a:off x="545023" y="1940052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Pros and Cons of the solution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1" name="Google Shape;141;p16"/>
          <p:cNvSpPr/>
          <p:nvPr>
            <p:ph idx="5" type="body"/>
          </p:nvPr>
        </p:nvSpPr>
        <p:spPr>
          <a:xfrm>
            <a:off x="545023" y="2350532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Technical Description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2" name="Google Shape;142;p16"/>
          <p:cNvSpPr/>
          <p:nvPr>
            <p:ph idx="6" type="body"/>
          </p:nvPr>
        </p:nvSpPr>
        <p:spPr>
          <a:xfrm>
            <a:off x="545023" y="2766369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Implementation Plan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3" name="Google Shape;143;p16"/>
          <p:cNvSpPr/>
          <p:nvPr>
            <p:ph idx="7" type="body"/>
          </p:nvPr>
        </p:nvSpPr>
        <p:spPr>
          <a:xfrm>
            <a:off x="545023" y="3182206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500">
                <a:latin typeface="Onest"/>
                <a:ea typeface="Onest"/>
                <a:cs typeface="Onest"/>
                <a:sym typeface="Onest"/>
              </a:rPr>
              <a:t>Validation/Testing/Analysis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5023" y="3598043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i="0" lang="en-IN" sz="15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Cost Estimate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5023" y="4009104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i="0" lang="en-IN" sz="15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Assumptions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45023" y="4420165"/>
            <a:ext cx="3528392" cy="288032"/>
          </a:xfrm>
          <a:prstGeom prst="parallelogram">
            <a:avLst>
              <a:gd fmla="val 25000" name="adj"/>
            </a:avLst>
          </a:prstGeom>
          <a:solidFill>
            <a:srgbClr val="0077BD"/>
          </a:solidFill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i="0" lang="en-IN" sz="15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References</a:t>
            </a:r>
            <a:endParaRPr sz="1500"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590" y="684650"/>
            <a:ext cx="2956483" cy="425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348000" y="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Challenge Statement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>
                <a:latin typeface="Onest"/>
                <a:ea typeface="Onest"/>
                <a:cs typeface="Onest"/>
                <a:sym typeface="Onest"/>
              </a:rPr>
              <a:t>Understanding of the problem</a:t>
            </a:r>
            <a:endParaRPr b="1" sz="1700">
              <a:latin typeface="Onest"/>
              <a:ea typeface="Onest"/>
              <a:cs typeface="Onest"/>
              <a:sym typeface="Ones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With the exponential growth of IoT, security threats like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DDoS attacks, MITM, data breaches, and malware infections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are increasing. Traditional security measures struggle to keep pace due to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scalability issues, lack of real-time threat detection, and device constraints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. The challenge is to develop a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lightweight, scalable, and proactive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cybersecurity solution for IoT devices.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348000" y="928275"/>
            <a:ext cx="5941800" cy="3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SentinelAI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is an AI-powered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autonomous security framework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that provides:</a:t>
            </a:r>
            <a:br>
              <a:rPr lang="en-IN" sz="1500">
                <a:latin typeface="Nunito"/>
                <a:ea typeface="Nunito"/>
                <a:cs typeface="Nunito"/>
                <a:sym typeface="Nunito"/>
              </a:rPr>
            </a:b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Real-time anomaly detection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on IoT devices</a:t>
            </a:r>
            <a:br>
              <a:rPr lang="en-IN" sz="1500">
                <a:latin typeface="Nunito"/>
                <a:ea typeface="Nunito"/>
                <a:cs typeface="Nunito"/>
                <a:sym typeface="Nunito"/>
              </a:rPr>
            </a:b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Automated threat mitigation &amp; dynamic isolation</a:t>
            </a:r>
            <a:br>
              <a:rPr b="1" lang="en-IN" sz="1500">
                <a:latin typeface="Nunito"/>
                <a:ea typeface="Nunito"/>
                <a:cs typeface="Nunito"/>
                <a:sym typeface="Nunito"/>
              </a:rPr>
            </a:b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Blockchain-backed firmware verification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to prevent malicious updates</a:t>
            </a:r>
            <a:br>
              <a:rPr lang="en-IN" sz="1500">
                <a:latin typeface="Nunito"/>
                <a:ea typeface="Nunito"/>
                <a:cs typeface="Nunito"/>
                <a:sym typeface="Nunito"/>
              </a:rPr>
            </a:b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Federated learning-driven adaptive security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Our Use Case: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Imagine a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smart hospital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where connected ventilators, patient monitors, and medication dispensers operate 24/7. A single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cyberattack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could disrupt critical medical functions, putting lives at risk.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SentinelAI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ensures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real-time anomaly detection, automated isolation of compromised devices, and blockchain-verified firmware updates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, ensuring </a:t>
            </a:r>
            <a:r>
              <a:rPr b="1" lang="en-IN" sz="1500">
                <a:latin typeface="Nunito"/>
                <a:ea typeface="Nunito"/>
                <a:cs typeface="Nunito"/>
                <a:sym typeface="Nunito"/>
              </a:rPr>
              <a:t>continuous and secure operation</a:t>
            </a:r>
            <a:r>
              <a:rPr lang="en-IN" sz="1500">
                <a:latin typeface="Nunito"/>
                <a:ea typeface="Nunito"/>
                <a:cs typeface="Nunito"/>
                <a:sym typeface="Nunito"/>
              </a:rPr>
              <a:t> without human intervention.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2463800"/>
            <a:ext cx="1143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Concept of the Solution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096000" y="18482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Device Registration and Authentication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176550" y="2571750"/>
            <a:ext cx="283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Anomaly Detection &amp; Threat Analysis</a:t>
            </a:r>
            <a:endParaRPr b="1" sz="3000">
              <a:solidFill>
                <a:srgbClr val="383536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015450" y="32953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Node Isolation &amp; 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Recovery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435000" y="1437500"/>
            <a:ext cx="2322000" cy="41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latin typeface="Calibri"/>
                <a:ea typeface="Calibri"/>
                <a:cs typeface="Calibri"/>
                <a:sym typeface="Calibri"/>
              </a:rPr>
              <a:t>STAGES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Novelty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: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✅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Edge-based AI security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Detect threats on-device, reducing response time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✅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Blockchain-verified firmware updates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Prevents unauthorized modifications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✅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Dynamic isolation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Compromised devices are quarantined instantly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✅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Federated learning for evolving threat intelligence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Improves accuracy continuously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Scope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: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Industry Applications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Healthcare, Smart Cities, Logistics, Military, Automotive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Scalability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– Works for both consumer &amp; enterprise IoT networks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0" name="Google Shape;170;p19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Novelty/Scope of the Solution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348000" y="1051200"/>
            <a:ext cx="85344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Pros:</a:t>
            </a:r>
            <a:br>
              <a:rPr b="1"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Enterprise-friendly integration: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Designed to seamlessly work with existing IoT ecosystems, reducing operational overhead.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Proactive security: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SentinelAI stops attacks before they cause damage, reducing costly downtime and service disruptions.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Fully autonomous – minimal human intervention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</a:t>
            </a: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Cost-efficient: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Reduces need for manual security intervention, lowering operational expenses.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Scalable and lightweight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Cons:</a:t>
            </a:r>
            <a:br>
              <a:rPr b="1"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⚠ Initial implementation requires integration with existing IoT ecosystems</a:t>
            </a:r>
            <a:br>
              <a:rPr lang="en-IN" sz="1700">
                <a:latin typeface="Nunito"/>
                <a:ea typeface="Nunito"/>
                <a:cs typeface="Nunito"/>
                <a:sym typeface="Nunito"/>
              </a:rPr>
            </a:b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⚠ Edge computing hardware dependency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Pros and Cons of the Solution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348000" y="1051200"/>
            <a:ext cx="4251000" cy="3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en-IN" sz="1750">
                <a:latin typeface="Nunito"/>
                <a:ea typeface="Nunito"/>
                <a:cs typeface="Nunito"/>
                <a:sym typeface="Nunito"/>
              </a:rPr>
              <a:t>How It Works:</a:t>
            </a:r>
            <a:endParaRPr b="1" sz="1750">
              <a:latin typeface="Nunito"/>
              <a:ea typeface="Nunito"/>
              <a:cs typeface="Nunito"/>
              <a:sym typeface="Nunito"/>
            </a:endParaRPr>
          </a:p>
          <a:p>
            <a:pPr indent="-32305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IN" sz="1750">
                <a:latin typeface="Nunito"/>
                <a:ea typeface="Nunito"/>
                <a:cs typeface="Nunito"/>
                <a:sym typeface="Nunito"/>
              </a:rPr>
              <a:t>Edge AI</a:t>
            </a:r>
            <a:r>
              <a:rPr lang="en-IN" sz="1750">
                <a:latin typeface="Nunito"/>
                <a:ea typeface="Nunito"/>
                <a:cs typeface="Nunito"/>
                <a:sym typeface="Nunito"/>
              </a:rPr>
              <a:t> detects anomalies locally, preventing cyber threats before they spread.</a:t>
            </a:r>
            <a:endParaRPr sz="1750">
              <a:latin typeface="Nunito"/>
              <a:ea typeface="Nunito"/>
              <a:cs typeface="Nunito"/>
              <a:sym typeface="Nunito"/>
            </a:endParaRPr>
          </a:p>
          <a:p>
            <a:pPr indent="-32305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IN" sz="1750">
                <a:latin typeface="Nunito"/>
                <a:ea typeface="Nunito"/>
                <a:cs typeface="Nunito"/>
                <a:sym typeface="Nunito"/>
              </a:rPr>
              <a:t>Blockchain-backed security</a:t>
            </a:r>
            <a:r>
              <a:rPr lang="en-IN" sz="1750">
                <a:latin typeface="Nunito"/>
                <a:ea typeface="Nunito"/>
                <a:cs typeface="Nunito"/>
                <a:sym typeface="Nunito"/>
              </a:rPr>
              <a:t> ensures only trusted firmware updates are applied.</a:t>
            </a:r>
            <a:endParaRPr sz="1750">
              <a:latin typeface="Nunito"/>
              <a:ea typeface="Nunito"/>
              <a:cs typeface="Nunito"/>
              <a:sym typeface="Nunito"/>
            </a:endParaRPr>
          </a:p>
          <a:p>
            <a:pPr indent="-32305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IN" sz="1750">
                <a:latin typeface="Nunito"/>
                <a:ea typeface="Nunito"/>
                <a:cs typeface="Nunito"/>
                <a:sym typeface="Nunito"/>
              </a:rPr>
              <a:t>SDN dynamically isolates compromised nodes</a:t>
            </a:r>
            <a:r>
              <a:rPr lang="en-IN" sz="1750">
                <a:latin typeface="Nunito"/>
                <a:ea typeface="Nunito"/>
                <a:cs typeface="Nunito"/>
                <a:sym typeface="Nunito"/>
              </a:rPr>
              <a:t> to prevent lateral spread of attacks.</a:t>
            </a:r>
            <a:endParaRPr sz="1750">
              <a:latin typeface="Nunito"/>
              <a:ea typeface="Nunito"/>
              <a:cs typeface="Nunito"/>
              <a:sym typeface="Nunito"/>
            </a:endParaRPr>
          </a:p>
          <a:p>
            <a:pPr indent="-32305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IN" sz="1750">
                <a:latin typeface="Nunito"/>
                <a:ea typeface="Nunito"/>
                <a:cs typeface="Nunito"/>
                <a:sym typeface="Nunito"/>
              </a:rPr>
              <a:t>Federated learning continuously adapts security models</a:t>
            </a:r>
            <a:r>
              <a:rPr lang="en-IN" sz="1750">
                <a:latin typeface="Nunito"/>
                <a:ea typeface="Nunito"/>
                <a:cs typeface="Nunito"/>
                <a:sym typeface="Nunito"/>
              </a:rPr>
              <a:t> to emerging threats.</a:t>
            </a:r>
            <a:endParaRPr sz="175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🛠 Tech Stack:</a:t>
            </a:r>
            <a:endParaRPr b="1"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IoT &amp; Edge AI: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MQTT, CoAP, 🧠 TensorFlow Lite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Blockchain &amp; Security: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Ethereum, ⚙️ Solidity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SDN &amp; Networking: 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OpenFlow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>
                <a:latin typeface="Nunito"/>
                <a:ea typeface="Nunito"/>
                <a:cs typeface="Nunito"/>
                <a:sym typeface="Nunito"/>
              </a:rPr>
              <a:t>Cloud &amp; Backend:</a:t>
            </a: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  FastAPI, 🗄 MongoDB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Technical Description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8900" y="1302348"/>
            <a:ext cx="4569001" cy="253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348000" y="1051200"/>
            <a:ext cx="8534400" cy="3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Nunito"/>
                <a:ea typeface="Nunito"/>
                <a:cs typeface="Nunito"/>
                <a:sym typeface="Nunito"/>
              </a:rPr>
              <a:t>Phase 1:</a:t>
            </a:r>
            <a:br>
              <a:rPr b="1"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Develop &amp; integrate AI-based anomaly detection models</a:t>
            </a:r>
            <a:br>
              <a:rPr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Deploy blockchain-based authentication &amp; firmware validation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Nunito"/>
                <a:ea typeface="Nunito"/>
                <a:cs typeface="Nunito"/>
                <a:sym typeface="Nunito"/>
              </a:rPr>
              <a:t>Phase 2:</a:t>
            </a:r>
            <a:br>
              <a:rPr b="1"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Implement SDN-based isolation and automated recovery mechanisms</a:t>
            </a:r>
            <a:br>
              <a:rPr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Test in simulated IoT environments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>
                <a:latin typeface="Nunito"/>
                <a:ea typeface="Nunito"/>
                <a:cs typeface="Nunito"/>
                <a:sym typeface="Nunito"/>
              </a:rPr>
              <a:t>Phase 3:</a:t>
            </a:r>
            <a:br>
              <a:rPr b="1"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Real-world deployment &amp; industry-specific adaptations</a:t>
            </a:r>
            <a:br>
              <a:rPr lang="en-IN">
                <a:latin typeface="Nunito"/>
                <a:ea typeface="Nunito"/>
                <a:cs typeface="Nunito"/>
                <a:sym typeface="Nunito"/>
              </a:rPr>
            </a:br>
            <a:r>
              <a:rPr lang="en-IN">
                <a:latin typeface="Nunito"/>
                <a:ea typeface="Nunito"/>
                <a:cs typeface="Nunito"/>
                <a:sym typeface="Nunito"/>
              </a:rPr>
              <a:t>✔ Optimize federated learning for adaptive security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Implementation Phase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Results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100" y="1975500"/>
            <a:ext cx="2247645" cy="10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090" y="3303623"/>
            <a:ext cx="2182907" cy="8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422100" y="1066825"/>
            <a:ext cx="73641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90%+ threat detection accuracy.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Sub-5ms response time for isolation.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Zero data integrity compromise during firmware updates.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1224" y="1917750"/>
            <a:ext cx="2482334" cy="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1237" y="2985662"/>
            <a:ext cx="2247650" cy="99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3614" y="4053582"/>
            <a:ext cx="2182900" cy="969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55034" y="323542"/>
            <a:ext cx="2827376" cy="4334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IoT devices have reliable network connectivity to ensure seamless communication with cloud and edge nodes.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Energy consumption of IoT devices is optimized to support continuous operation without frequent recharging or maintenance.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Blockchain transaction latency is low enough for real-time or near-real-time processing of updates.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SDN controllers can dynamically allocate bandwidth based on IoT device requirements.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Edge computing resources are available to offload AI inference when needed, reducing cloud dependency.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All devices and nodes comply with standard security protocols to prevent unauthorized access.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Assumptions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AI Model Development – ₹3L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Blockchain Integration – ₹2.5L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Edge Computing &amp; SDN Implementation – ₹3L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Testing &amp; Security Audits – ₹1.5L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Infrastructure &amp; Maintenance – ₹1L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Total Estimated Cost: ~₹11L (Highly optimized for cost-effectiveness)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Revenue Streams: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Subscription-Based Model – Affordable security plans starting at ₹499/month for small businesses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Enterprise Licensing – Custom security solutions for ₹2L+/year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latin typeface="Nunito"/>
                <a:ea typeface="Nunito"/>
                <a:cs typeface="Nunito"/>
                <a:sym typeface="Nunito"/>
              </a:rPr>
              <a:t>✔ OEM &amp; Government Partnerships – Integration with IoT manufacturers &amp; smart city initiatives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48000" y="-7620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IN">
                <a:latin typeface="Poppins Medium"/>
                <a:ea typeface="Poppins Medium"/>
                <a:cs typeface="Poppins Medium"/>
                <a:sym typeface="Poppins Medium"/>
              </a:rPr>
              <a:t>Cost Estimate</a:t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348000" y="0"/>
            <a:ext cx="85344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Roboto"/>
              <a:buChar char="➔"/>
            </a:pPr>
            <a:r>
              <a:rPr lang="en-IN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Security Framework for IoT Devices against Cyber-attacks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➔"/>
            </a:pPr>
            <a:r>
              <a:rPr lang="en-IN" sz="19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IoTPredictor: A security framework for predicting IoT device behaviours and detecting malicious devices against cyber attacks</a:t>
            </a:r>
            <a:endParaRPr sz="190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➔"/>
            </a:pPr>
            <a:r>
              <a:rPr lang="en-IN" sz="19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5"/>
              </a:rPr>
              <a:t>Machine learning techniques for IoT security: Current research and future vision with generative AI and large language models</a:t>
            </a:r>
            <a:endParaRPr sz="190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348000" y="1051200"/>
            <a:ext cx="8534400" cy="38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IN" sz="32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